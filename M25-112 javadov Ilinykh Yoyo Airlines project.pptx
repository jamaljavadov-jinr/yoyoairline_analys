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6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4024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Говорит: я. Открываю тему одной фразой: нам дали шесть выгрузок о перелётах, мы собрали их в один датасет, разобрались, где какой человек, и нашли двух подозрительных — точнее, два документа, которыми пользуются по двое. Внизу цифры, к которым мы придём.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Говорит: я. Задача из кейса: мы внешние консультанты Yoyoflot. Нужно объединить и почистить данные из нескольких источников и восстановить паттерны перелётов, чтобы найти подозрительных пассажиров. Мы разложили её на три шага — именно в этом порядке пойдёт рассказ.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Говорит: я. Основа — pandas. Для каждого формата своя библиотека чтения: lxml для XML, PyYAML с быстрым загрузчиком на C для YAML, openpyxl под капотом read_excel для посадочных. PDF разбирали PyMuPDF. Промежуточные результаты храним в Parquet через pyarrow — CSV на таком объёме медленный и теряет типы. Склейку людей написали сами, это обычный Union-Find.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Говорит: я. Шесть источников, и все в разных форматах — от простого CSV до PDF на 27 тысяч страниц. Обратите внимание на асимметрию: больше всего строк там, где меньше всего сведений о человеке. В SkyTeam есть только номер карты лояльности, имени нет вообще. Поэтому склейка по имени здесь невозможна в принципе — нужны общие идентификаторы.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Говорит: я. Самое интересное — Sirena: колонки идут без разделителей, у каждой своя ширина, и всё на кириллице. Границы колонок я нашёл по строке заголовка. SkyTeam большой, 164 мегабайта: читаем его быстрым загрузчиком CSafeLoader и сохраняем результат, чтобы не ждать каждый раз. В CSV мелочь: если не попросить pandas читать всё как текст, слово «None» в колонке багажа станет пустой ячейкой.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Говорит: я. В pipeline.py для каждого источника своя функция, которая переводит его в общую схему событий: одна строка — один перелёт в одном источнике. Таблица показывает главную проблему: нет поля, которое было бы заполнено везде. Паспорт есть только в двух источниках, карта лояльности — в четырёх, имени нет в SkyTeam вообще. Поэтому объединять людей придётся по цепочке разных ключей.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Говорит: я. Это то, на чём мы реально спотыкались. Самая коварная — заглушка «Not presented»: она одинаковая у сотен тысяч записей и выглядит как настоящий номер билета, поэтому склейка объединила 631 тысячу записей в одного человека. Последняя карточка: у профиля форума несколько рейсов и несколько карт. Если записать карты прямо в строки рейсов, каждый рейс повторится столько раз, сколько у человека карт, — это 623 тысячи лишних строк. Поэтому карты лежат в отдельной таблице.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Говорит: я. Теперь главное — как понять, какие записи принадлежат одному человеку. Мы строим граф: каждая запись — вершина, общий паспорт, билет или карта — ребро. Человек — это связная компонента. Имя сознательно не используем как ключ: в данных есть полные тёзки, и склейка по имени соединила бы чужих людей.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Говорит: я. Union-Find — это способ быстро собирать записи в группы. В начале каждая запись — сама по себе. Функция find идёт от записи по цепочке «родителей», пока не дойдёт до корня; корень — это номер человека. Попутно она подтягивает записи ближе к корню, поэтому со временем цепочки становятся короткими. Функция union объединяет две группы: корень одной просто подвешивается к корню другой. Для каждого паспорта, билета и карты мы вызываем union для всех записей с этим ключом. Справа — ровно тот код, что в Entity Resolution.py. Сравнивать записи попарно было бы 7 триллионов пар, а так — один проход.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Говорит: я. Вот как это выглядит на маленьком примере. Четыре записи из четырёх источников. У A и B общий паспорт — сливаем. У B и C общая карта — сливаем. У C и D та же карта — сливаем. В итоге у всех один корень, A, и это один человек. Главное здесь: у записей A и D нет ни одного общего ключа — паспорт есть только у A, uid Pointz только у D. Их связывает цепочка через B и C. Именно так паспортные источники соединяются с карточными.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Говорит: я. Итог склейки — 158 тысяч человек из 3,7 миллиона записей. Гигантских слипшихся групп нет: самый крупный человек — 107 записей. Из 66 592 профилей форума 57 151 связались с другими источниками через карты. И проверка на здравый смысл: ни у кого нет двух паспортов одного типа или двух карт одной программы.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Говорит: я. Мы выстроили десять гипотез о том, чем подозрительный пассажир отличается от обычного. Девять не подтвердились, и почти всегда по одной из двух причин: либо данных нет — время вылета известно лишь у 8% записей, багаж только в двух источниках, статус рейса везде одинаковый, — либо распределение гладкое и выбросов нет. Пример с багажом: 301 человек всегда летает без багажа, но если раздать «без багажа» случайно, таких было бы 295 — это шум. Сработала только четвёртая гипотеза, и она дала новый критерий.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Говорит: я. Это центральная мысль работы. Поведение объясняется десятком невинных причин, а документ — нет: паспорт выдают одному человеку. Поэтому spy_detector.py ищет не странных людей, а идентификаторы, на которых стоят разные фамилии или разные даты рождения. 101 662 — это сколько разных номеров документов встречается во всех источниках, 101 703 — сколько разных карт лояльности. Мы проверили каждый номер, и два владельца нашлись ровно у одного документа и одной карты. Важно: person_id здесь не используется — ключи считаются из сырых полей, иначе рассуждение было бы по кругу.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Говорит: я. Первая находка — внутренний паспорт, 10 цифр. На нём два человека, у которых не совпадает ничего: ни фамилия, ни имя, ни отчество, ни дата рождения. Это видно в двух независимых источниках — посадочных данных и выгрузке агентства, поэтому это не ошибка нашей склейки. По маршруту: 3 января паспорт прилетает в Шереметьево, а 16 января вылетает из Махачкалы, и перелёта между ними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Говорит: я. Вторая находка — карта Flying Blue. На ней два пользователя агрегатора Pointz: Головина и Масленников. Их географии не пересекаются: она летает между Россией, Саудовской Аравией и Европой, он — внутри Китая. Если выстроить все перелёты карты по времени, цепочка рвётся 8 раз из 20: например, 29 июля карта вылетает из Бейрута, хотя последний раз прилетела в Эр-Рияд, а через три недели оказывается в Шанхае, прилетев перед этим в Рим.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Говорит: коллега. Я взяла три сигнала риска и для каждого порог не придумывала, а брала из самих данных — как верхний хвост распределения. Объём — сколько у человека перелётов: порог 31, это верхние полпроцента среди тех, кто летал хотя бы пять раз; выше порога 814 человек. География — сколько разных аэропортов вылета: порог 24, верхний процент, это 1 071 человек. Тяжесть разрывов: когда человек вылетает не из того аэропорта, куда прилетел, при паузе от одного до семи дней, мы прибавляем единицу, делённую на паузу, — разрыв за один день весит единицу, за неделю — одну седьмую. Порог 1,5, выше него 1 165 человек. Один сигнал ничего не значит, поэтому в очередь идут те, у кого два сигнала или тяжёлые разрывы, подтверждённые вторым источником: это 1 547 человек, из них 462 с двумя сигналами и 24 со всеми тремя.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Говорит: я. Коротко весь путь. Шесть источников в шести форматах мы свели в 3,7 миллиона событий и склеили в 158 тысяч человек. Из десяти гипотез сработала одна, и она дала два ключа, которыми пользуются по двое. Три сигнала риска дают очередь из 1 547 кейсов — это следующий круг ручной проверки.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720" y="1229271"/>
            <a:ext cx="10566533" cy="467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720" y="2001432"/>
            <a:ext cx="10566480" cy="40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21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720" y="1229271"/>
            <a:ext cx="10566533" cy="467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720" y="2001432"/>
            <a:ext cx="10566480" cy="40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21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19" y="5631366"/>
            <a:ext cx="2856031" cy="926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ru-RU" sz="1400" dirty="0">
                <a:solidFill>
                  <a:srgbClr val="A8AEB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Студенты группы М25-112:</a:t>
            </a:r>
          </a:p>
          <a:p>
            <a:pPr marL="0" indent="0" algn="l">
              <a:lnSpc>
                <a:spcPts val="1820"/>
              </a:lnSpc>
              <a:buNone/>
            </a:pPr>
            <a:r>
              <a:rPr lang="ru-RU" sz="1400" dirty="0">
                <a:solidFill>
                  <a:srgbClr val="A8AEB6"/>
                </a:solidFill>
                <a:ea typeface="JetBrains Mono" pitchFamily="49" charset="-122"/>
              </a:rPr>
              <a:t>Джавадов Джамал</a:t>
            </a:r>
          </a:p>
          <a:p>
            <a:pPr marL="0" indent="0" algn="l">
              <a:lnSpc>
                <a:spcPts val="1820"/>
              </a:lnSpc>
              <a:buNone/>
            </a:pPr>
            <a:r>
              <a:rPr lang="ru-RU" sz="1400" dirty="0">
                <a:solidFill>
                  <a:srgbClr val="A8AEB6"/>
                </a:solidFill>
                <a:ea typeface="JetBrains Mono" pitchFamily="49" charset="-122"/>
              </a:rPr>
              <a:t>Ильиных Софья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720" y="812720"/>
            <a:ext cx="10889873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200" dirty="0">
                <a:solidFill>
                  <a:srgbClr val="E883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КЕЙС ПО АНАЛИЗУ ДАННЫХ · YOYOFLOT</a:t>
            </a:r>
            <a:endParaRPr lang="en-US" sz="1300" dirty="0"/>
          </a:p>
        </p:txBody>
      </p:sp>
      <p:sp>
        <p:nvSpPr>
          <p:cNvPr id="8" name="Text 6"/>
          <p:cNvSpPr>
            <a:spLocks noGrp="1"/>
          </p:cNvSpPr>
          <p:nvPr>
            <p:ph type="title"/>
          </p:nvPr>
        </p:nvSpPr>
        <p:spPr>
          <a:xfrm>
            <a:off x="633021" y="2760693"/>
            <a:ext cx="10203157" cy="210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</a:t>
            </a:r>
            <a:r>
              <a:rPr lang="ru-RU" sz="5200" b="1" i="0" dirty="0" err="1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оиск</a:t>
            </a:r>
            <a:r>
              <a:rPr lang="en-US" sz="5200" b="1" i="0" dirty="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ru-RU" sz="5200" b="1" i="0" dirty="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шпионов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812720"/>
            <a:ext cx="10883529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C245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 · ПОСТАНОВКА ЗАДАЧИ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20" y="1280081"/>
            <a:ext cx="10464746" cy="960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ru-RU" sz="3200" b="1" i="0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Задача: </a:t>
            </a:r>
            <a:r>
              <a:rPr lang="ru-RU" b="1" dirty="0"/>
              <a:t>в</a:t>
            </a:r>
            <a:r>
              <a:rPr lang="en-US" sz="3200" b="1" i="0" dirty="0" err="1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осстановить</a:t>
            </a:r>
            <a:r>
              <a:rPr lang="ru-RU" sz="3200" b="1" i="0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историю перелетов пассажиров </a:t>
            </a:r>
            <a:r>
              <a:rPr lang="en-US" sz="3200" b="1" i="0" dirty="0" err="1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</a:t>
            </a:r>
            <a:r>
              <a:rPr lang="en-US" sz="3200" b="1" i="0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3200" b="1" i="0" dirty="0" err="1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найти</a:t>
            </a:r>
            <a:r>
              <a:rPr lang="en-US" sz="3200" b="1" i="0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ru-RU" sz="3200" b="1" i="0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выбросы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720" y="2468773"/>
            <a:ext cx="10203157" cy="909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ru-RU" sz="1600" dirty="0">
                <a:solidFill>
                  <a:srgbClr val="4A5560"/>
                </a:solidFill>
                <a:latin typeface="IBM Plex Sans" pitchFamily="34" charset="0"/>
              </a:rPr>
              <a:t>Необходимо объединить 6 источников в единый датасет, очистить его от мусора и детектировать аномалии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5895" y="3609556"/>
            <a:ext cx="3397236" cy="1909832"/>
          </a:xfrm>
          <a:prstGeom prst="roundRect">
            <a:avLst>
              <a:gd name="adj" fmla="val 3824"/>
            </a:avLst>
          </a:prstGeom>
          <a:solidFill>
            <a:srgbClr val="FDFCF9"/>
          </a:solidFill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1072486" y="3840696"/>
            <a:ext cx="297057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245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2486" y="4178447"/>
            <a:ext cx="2970576" cy="29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Один датасет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2486" y="4541557"/>
            <a:ext cx="2970576" cy="772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Привести шесть разных форматов к </a:t>
            </a:r>
            <a:r>
              <a:rPr lang="en-US" sz="1400" dirty="0" err="1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общей</a:t>
            </a:r>
            <a:r>
              <a:rPr lang="en-US" sz="140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400" dirty="0" err="1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схеме</a:t>
            </a:r>
            <a:r>
              <a:rPr lang="ru-RU" sz="140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по ключевым полям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97278" y="3609556"/>
            <a:ext cx="3397327" cy="1909832"/>
          </a:xfrm>
          <a:prstGeom prst="roundRect">
            <a:avLst>
              <a:gd name="adj" fmla="val 3824"/>
            </a:avLst>
          </a:prstGeom>
          <a:solidFill>
            <a:srgbClr val="FDFCF9"/>
          </a:solidFill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4653869" y="3840696"/>
            <a:ext cx="2970669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245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53869" y="4178447"/>
            <a:ext cx="2970669" cy="29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Один человек — один id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53869" y="4541557"/>
            <a:ext cx="2970669" cy="772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Понять, какие записи из разных источников относятся к </a:t>
            </a:r>
            <a:r>
              <a:rPr lang="en-US" sz="1400" dirty="0" err="1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одному</a:t>
            </a:r>
            <a:r>
              <a:rPr lang="en-US" sz="140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400" dirty="0" err="1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пассажиру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78751" y="3609556"/>
            <a:ext cx="3397327" cy="1909832"/>
          </a:xfrm>
          <a:prstGeom prst="roundRect">
            <a:avLst>
              <a:gd name="adj" fmla="val 3824"/>
            </a:avLst>
          </a:prstGeom>
          <a:solidFill>
            <a:srgbClr val="FDFCF9"/>
          </a:solidFill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8235342" y="3840696"/>
            <a:ext cx="2970669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245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35342" y="4178447"/>
            <a:ext cx="2970669" cy="29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Очередь на проверку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35342" y="4541557"/>
            <a:ext cx="2970669" cy="523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Найти подозрительные случаи и показать доказательства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720" y="6238278"/>
            <a:ext cx="233759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812719"/>
            <a:ext cx="10883529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C245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 · ИНСТРУМЕНТЫ РЕШЕНИЯ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20" y="1254630"/>
            <a:ext cx="10883529" cy="492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Библиотеки и зачем каждая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376078" y="1950509"/>
            <a:ext cx="0" cy="2770475"/>
          </a:xfrm>
          <a:prstGeom prst="line">
            <a:avLst/>
          </a:prstGeom>
          <a:noFill/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812720" y="4717809"/>
            <a:ext cx="10566533" cy="0"/>
          </a:xfrm>
          <a:prstGeom prst="line">
            <a:avLst/>
          </a:prstGeom>
          <a:noFill/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812720" y="1956306"/>
            <a:ext cx="10566533" cy="0"/>
          </a:xfrm>
          <a:prstGeom prst="line">
            <a:avLst/>
          </a:prstGeom>
          <a:noFill/>
          <a:ln w="11593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818516" y="1950509"/>
            <a:ext cx="0" cy="2770475"/>
          </a:xfrm>
          <a:prstGeom prst="line">
            <a:avLst/>
          </a:prstGeom>
          <a:noFill/>
          <a:ln w="11593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8613" y="2038302"/>
          <a:ext cx="10320544" cy="2600738"/>
        </p:xfrm>
        <a:graphic>
          <a:graphicData uri="http://schemas.openxmlformats.org/drawingml/2006/table">
            <a:tbl>
              <a:tblPr/>
              <a:tblGrid>
                <a:gridCol w="3715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5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534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Задача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Библиотеки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534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Таблицы и расчёты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pandas · numpy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534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Чтение форматов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lxml · PyYAML · json · openpyxl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534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PDF-расписание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PyMuPDF · re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534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Хранение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pyarrow · Parquet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534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Сравнение имён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 · difflib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534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Графики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matplotlib · seaborn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12720" y="6238278"/>
            <a:ext cx="233759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812719"/>
            <a:ext cx="10883529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C245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 · ВХОДНЫЕ ДАННЫЕ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20" y="1254630"/>
            <a:ext cx="10883529" cy="492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Шесть источников — шесть форматов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376078" y="1950509"/>
            <a:ext cx="0" cy="3142009"/>
          </a:xfrm>
          <a:prstGeom prst="line">
            <a:avLst/>
          </a:prstGeom>
          <a:noFill/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812720" y="5089343"/>
            <a:ext cx="10566533" cy="0"/>
          </a:xfrm>
          <a:prstGeom prst="line">
            <a:avLst/>
          </a:prstGeom>
          <a:noFill/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812720" y="1956306"/>
            <a:ext cx="10566533" cy="0"/>
          </a:xfrm>
          <a:prstGeom prst="line">
            <a:avLst/>
          </a:prstGeom>
          <a:noFill/>
          <a:ln w="11593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818516" y="1950509"/>
            <a:ext cx="0" cy="3142009"/>
          </a:xfrm>
          <a:prstGeom prst="line">
            <a:avLst/>
          </a:prstGeom>
          <a:noFill/>
          <a:ln w="11593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8613" y="2038302"/>
          <a:ext cx="10320543" cy="2972272"/>
        </p:xfrm>
        <a:graphic>
          <a:graphicData uri="http://schemas.openxmlformats.org/drawingml/2006/table">
            <a:tbl>
              <a:tblPr/>
              <a:tblGrid>
                <a:gridCol w="4644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0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6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534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Источник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Формат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Записей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534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BoardingData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CSV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155 147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534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Sirena-export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TAB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155 757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534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PointzAggregator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XML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436 090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534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SkyTeam-Exchange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YAML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1 687 053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534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Forum-Profiles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JSON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1 308 987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534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YourBoardingPass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XLSX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366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534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Timetable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PDF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334 547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12720" y="6238280"/>
            <a:ext cx="233759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812719"/>
            <a:ext cx="10883529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C245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 · КАК ЧИТАЛИ: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20" y="1254630"/>
            <a:ext cx="10883529" cy="492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 </a:t>
            </a:r>
            <a:r>
              <a:rPr lang="en-US" sz="3200" b="1" i="0" dirty="0" err="1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каждого</a:t>
            </a:r>
            <a:r>
              <a:rPr lang="en-US" sz="3200" b="1" i="0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ru-RU" sz="3200" b="1" i="0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источника свои особенности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895" y="1953685"/>
            <a:ext cx="3414264" cy="1358961"/>
          </a:xfrm>
          <a:prstGeom prst="roundRect">
            <a:avLst>
              <a:gd name="adj" fmla="val 5374"/>
            </a:avLst>
          </a:prstGeom>
          <a:solidFill>
            <a:srgbClr val="FDFCF9"/>
          </a:solidFill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1021674" y="2134102"/>
            <a:ext cx="3092787" cy="253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BoardingData · CSV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1674" y="2438794"/>
            <a:ext cx="3092787" cy="718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Обычная таблица через «;». Читаем всё как текст, чтобы слово «None» в багаже не стало пустой ячейкой.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8854" y="1953685"/>
            <a:ext cx="3414264" cy="1358961"/>
          </a:xfrm>
          <a:prstGeom prst="roundRect">
            <a:avLst>
              <a:gd name="adj" fmla="val 5374"/>
            </a:avLst>
          </a:prstGeom>
          <a:solidFill>
            <a:srgbClr val="FDFCF9"/>
          </a:solidFill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4594633" y="2134102"/>
            <a:ext cx="3092787" cy="253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Sirena · TAB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94633" y="2438794"/>
            <a:ext cx="3092787" cy="718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Колонки без разделителей, у каждой своя ширина, текст на кириллице. Границы колонок нашли по заголовку.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61814" y="1953685"/>
            <a:ext cx="3414264" cy="1358961"/>
          </a:xfrm>
          <a:prstGeom prst="roundRect">
            <a:avLst>
              <a:gd name="adj" fmla="val 5374"/>
            </a:avLst>
          </a:prstGeom>
          <a:solidFill>
            <a:srgbClr val="FDFCF9"/>
          </a:solidFill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8167593" y="2134102"/>
            <a:ext cx="3092787" cy="253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Pointz · XML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67593" y="2438794"/>
            <a:ext cx="3092787" cy="718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 err="1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Обходим</a:t>
            </a:r>
            <a:r>
              <a:rPr lang="en-US" sz="130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дерево и пишем каждый перелёт строкой.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895" y="3471342"/>
            <a:ext cx="3414264" cy="1358961"/>
          </a:xfrm>
          <a:prstGeom prst="roundRect">
            <a:avLst>
              <a:gd name="adj" fmla="val 5374"/>
            </a:avLst>
          </a:prstGeom>
          <a:solidFill>
            <a:srgbClr val="FDFCF9"/>
          </a:solidFill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1021674" y="3651758"/>
            <a:ext cx="3092787" cy="253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SkyTeam · YAML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21674" y="3956450"/>
            <a:ext cx="3092787" cy="718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Большой файл, 164 МБ. Читаем быстрым загрузчиком и сохраняем результат, чтобы не читать заново.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8854" y="3471342"/>
            <a:ext cx="3414264" cy="1358961"/>
          </a:xfrm>
          <a:prstGeom prst="roundRect">
            <a:avLst>
              <a:gd name="adj" fmla="val 5374"/>
            </a:avLst>
          </a:prstGeom>
          <a:solidFill>
            <a:srgbClr val="FDFCF9"/>
          </a:solidFill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4594633" y="3651758"/>
            <a:ext cx="3092787" cy="253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Форум · JSON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94633" y="3956450"/>
            <a:ext cx="3092787" cy="718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 err="1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Раскладываем</a:t>
            </a:r>
            <a:r>
              <a:rPr lang="en-US" sz="130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ru-RU" sz="130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каждый профиль</a:t>
            </a:r>
            <a:r>
              <a:rPr lang="en-US" sz="130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по отдельным таблицам.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61814" y="3471342"/>
            <a:ext cx="3414264" cy="1358961"/>
          </a:xfrm>
          <a:prstGeom prst="roundRect">
            <a:avLst>
              <a:gd name="adj" fmla="val 5374"/>
            </a:avLst>
          </a:prstGeom>
          <a:solidFill>
            <a:srgbClr val="FDFCF9"/>
          </a:solidFill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8167593" y="3651758"/>
            <a:ext cx="3092787" cy="253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Талоны · XLSX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67593" y="3956450"/>
            <a:ext cx="3092787" cy="718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366 файлов с одинаковой сеткой ячеек. Каждое поле берём из своей ячейки.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2720" y="6238280"/>
            <a:ext cx="233759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812719"/>
            <a:ext cx="10883529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C245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 · ОБЪЕДИНЕНИЕ: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20" y="1229271"/>
            <a:ext cx="10883529" cy="492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Ни одно поле не заполнено везде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376078" y="1899788"/>
            <a:ext cx="0" cy="3235662"/>
          </a:xfrm>
          <a:prstGeom prst="line">
            <a:avLst/>
          </a:prstGeom>
          <a:noFill/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812720" y="5132275"/>
            <a:ext cx="10566533" cy="0"/>
          </a:xfrm>
          <a:prstGeom prst="line">
            <a:avLst/>
          </a:prstGeom>
          <a:noFill/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812720" y="1905585"/>
            <a:ext cx="10566533" cy="0"/>
          </a:xfrm>
          <a:prstGeom prst="line">
            <a:avLst/>
          </a:prstGeom>
          <a:noFill/>
          <a:ln w="11593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818516" y="1899788"/>
            <a:ext cx="0" cy="3235662"/>
          </a:xfrm>
          <a:prstGeom prst="line">
            <a:avLst/>
          </a:prstGeom>
          <a:noFill/>
          <a:ln w="11593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25913" y="1968531"/>
          <a:ext cx="10345945" cy="3104145"/>
        </p:xfrm>
        <a:graphic>
          <a:graphicData uri="http://schemas.openxmlformats.org/drawingml/2006/table">
            <a:tbl>
              <a:tblPr/>
              <a:tblGrid>
                <a:gridCol w="22761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49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49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49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49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49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449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490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Поле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Boarding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Sirena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Pointz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SkyTeam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Форум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Талоны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90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ФИО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есть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есть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без отчества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6A717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у части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есть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90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Дата рождения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есть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есть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6A717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6A717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6A717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6A717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90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Паспорт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есть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есть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6A717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6A717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6A717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6A717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90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Билет и бронь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есть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есть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6A717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6A717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6A717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есть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90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Карта лояльности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6A717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есть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есть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есть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отдельно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6A717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90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Маршрут, IATA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только город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есть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есть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есть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есть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есть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90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Время вылета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есть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есть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6A717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6A717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6A717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есть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490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Багаж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есть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есть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6A717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6A717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6A717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6A717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12720" y="5338607"/>
            <a:ext cx="10464746" cy="292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3"/>
              </a:lnSpc>
              <a:buNone/>
            </a:pPr>
            <a:r>
              <a:rPr lang="en-US" sz="145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Все шесть источников приведены к одной таблице событий из 24 полей.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12720" y="6238280"/>
            <a:ext cx="233759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812719"/>
            <a:ext cx="10883529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C245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 · ТРУДНОСТИ ОБЪЕДИНЕНИЯ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20" y="1254630"/>
            <a:ext cx="10883529" cy="492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ru-RU" sz="3200" b="1" i="0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Шесть проблем качества данных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895" y="1953685"/>
            <a:ext cx="3414264" cy="1590106"/>
          </a:xfrm>
          <a:prstGeom prst="roundRect">
            <a:avLst>
              <a:gd name="adj" fmla="val 4592"/>
            </a:avLst>
          </a:prstGeom>
          <a:solidFill>
            <a:srgbClr val="FDFCF9"/>
          </a:solidFill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1021674" y="2134102"/>
            <a:ext cx="3092787" cy="253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ru-RU" sz="1500" b="1" dirty="0">
                <a:solidFill>
                  <a:srgbClr val="12161C"/>
                </a:solidFill>
                <a:latin typeface="IBM Plex Sans" pitchFamily="34" charset="0"/>
              </a:rPr>
              <a:t>Отсутствие отчества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1674" y="2438794"/>
            <a:ext cx="3092787" cy="990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ru-RU" sz="130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Из-за отсутствия отчества в некоторых источниках ФИО невозможно сделать ключевым полем (только как ориентир).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8854" y="1953685"/>
            <a:ext cx="3414264" cy="1590106"/>
          </a:xfrm>
          <a:prstGeom prst="roundRect">
            <a:avLst>
              <a:gd name="adj" fmla="val 4592"/>
            </a:avLst>
          </a:prstGeom>
          <a:solidFill>
            <a:srgbClr val="FDFCF9"/>
          </a:solidFill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4594633" y="2134102"/>
            <a:ext cx="3092787" cy="253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Технические заглушки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94633" y="2438794"/>
            <a:ext cx="3092787" cy="718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«Not presented» в билете и PNR приводили к ложным совпадениям. Теперь это пропуск.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61814" y="1953685"/>
            <a:ext cx="3414264" cy="1590106"/>
          </a:xfrm>
          <a:prstGeom prst="roundRect">
            <a:avLst>
              <a:gd name="adj" fmla="val 4592"/>
            </a:avLst>
          </a:prstGeom>
          <a:solidFill>
            <a:srgbClr val="FDFCF9"/>
          </a:solidFill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8167593" y="2134102"/>
            <a:ext cx="3092787" cy="253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Разные алфавиты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67593" y="2438794"/>
            <a:ext cx="3092787" cy="94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Имена из Sirena транслитерировали по ГОСТ Р 52535.1; исходное написание сохранили.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895" y="3702487"/>
            <a:ext cx="3414264" cy="1818624"/>
          </a:xfrm>
          <a:prstGeom prst="roundRect">
            <a:avLst>
              <a:gd name="adj" fmla="val 4015"/>
            </a:avLst>
          </a:prstGeom>
          <a:solidFill>
            <a:srgbClr val="FDFCF9"/>
          </a:solidFill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1021674" y="3882904"/>
            <a:ext cx="3092787" cy="253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Порядок слов в ФИО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21674" y="4187596"/>
            <a:ext cx="3092787" cy="718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 талонах встречаются «Имя Фамилия» и наоборот. Поля разделяем по справочнику имён и окончаниям.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8854" y="3702487"/>
            <a:ext cx="3414264" cy="1818624"/>
          </a:xfrm>
          <a:prstGeom prst="roundRect">
            <a:avLst>
              <a:gd name="adj" fmla="val 4015"/>
            </a:avLst>
          </a:prstGeom>
          <a:solidFill>
            <a:srgbClr val="FDFCF9"/>
          </a:solidFill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4594633" y="3882904"/>
            <a:ext cx="3092787" cy="253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Пробелы в номерах карт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94633" y="4187596"/>
            <a:ext cx="3092787" cy="718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DT_  100098437 и DT_100098437 — одна карта после очистки пробелов.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61814" y="3702487"/>
            <a:ext cx="3414264" cy="1818624"/>
          </a:xfrm>
          <a:prstGeom prst="roundRect">
            <a:avLst>
              <a:gd name="adj" fmla="val 4015"/>
            </a:avLst>
          </a:prstGeom>
          <a:solidFill>
            <a:srgbClr val="FDFCF9"/>
          </a:solidFill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8167593" y="3882904"/>
            <a:ext cx="3092787" cy="48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Профиль и карты форума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67593" y="4416112"/>
            <a:ext cx="3092787" cy="94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Связь «профиль — карта» вынесли отдельно, чтобы несколько карт не дублировали рейсы.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2720" y="6238280"/>
            <a:ext cx="233759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812719"/>
            <a:ext cx="10883529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C245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 · СКЛЕЙКА ЗАПИСЕЙ В ЛЮДЕЙ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20" y="1254633"/>
            <a:ext cx="10883529" cy="492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Запись — вершина, общий ключ — ребро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720" y="1950510"/>
            <a:ext cx="4887615" cy="881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8"/>
              </a:lnSpc>
              <a:buNone/>
            </a:pPr>
            <a:r>
              <a:rPr lang="en-US" sz="1550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Человек — это компонента связности: все записи, до которых можно дойти по общим идентификаторам.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12720" y="2958778"/>
            <a:ext cx="4887615" cy="1093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3"/>
              </a:lnSpc>
              <a:buNone/>
            </a:pPr>
            <a:r>
              <a:rPr lang="en-US" sz="145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Форум не содержит ни паспорта, ни билета: его профиль цепляется к остальным через свои карты лояльности. Сами группы находит </a:t>
            </a:r>
            <a:r>
              <a:rPr lang="en-US" sz="1450" dirty="0" err="1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алгоритм</a:t>
            </a:r>
            <a:r>
              <a:rPr lang="en-US" sz="145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Union-Find.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1376078" y="1950510"/>
            <a:ext cx="0" cy="2411621"/>
          </a:xfrm>
          <a:prstGeom prst="line">
            <a:avLst/>
          </a:prstGeom>
          <a:noFill/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5913570" y="4358956"/>
            <a:ext cx="5465683" cy="0"/>
          </a:xfrm>
          <a:prstGeom prst="line">
            <a:avLst/>
          </a:prstGeom>
          <a:noFill/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5913570" y="1956307"/>
            <a:ext cx="5465683" cy="0"/>
          </a:xfrm>
          <a:prstGeom prst="line">
            <a:avLst/>
          </a:prstGeom>
          <a:noFill/>
          <a:ln w="11593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5919367" y="1950510"/>
            <a:ext cx="0" cy="2411621"/>
          </a:xfrm>
          <a:prstGeom prst="line">
            <a:avLst/>
          </a:prstGeom>
          <a:noFill/>
          <a:ln w="11593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9464" y="2044654"/>
          <a:ext cx="5219693" cy="2229204"/>
        </p:xfrm>
        <a:graphic>
          <a:graphicData uri="http://schemas.openxmlformats.org/drawingml/2006/table">
            <a:tbl>
              <a:tblPr/>
              <a:tblGrid>
                <a:gridCol w="2192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74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534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Ключ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Где встречается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534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Паспорт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Boarding, Sirena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534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Номер билета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Boarding, Sirena, талоны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534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Карта лояльности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Sirena, Pointz, SkyTeam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534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uid Pointz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Pointz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534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Профиль форума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форум, далее через карты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812720" y="6238280"/>
            <a:ext cx="233759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ru-RU" sz="1200" dirty="0">
                <a:solidFill>
                  <a:srgbClr val="6A717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812719"/>
            <a:ext cx="10883529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C245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 · СКЛЕЙКА ЗАПИСЕЙ В ЛЮДЕЙ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20" y="1229265"/>
            <a:ext cx="10883529" cy="492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Union-Find: как записи находят друг друга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720" y="1899785"/>
            <a:ext cx="5328976" cy="269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45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r>
              <a:rPr lang="en-US" sz="1600" b="1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Старт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720" y="2194241"/>
            <a:ext cx="5328976" cy="505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Каждая из 3,7 млн записей — отдельная группа и сама себе «родитель».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12720" y="2852080"/>
            <a:ext cx="5328976" cy="269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45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r>
              <a:rPr lang="en-US" sz="1600" b="1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find(x) — кто главный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720" y="3146537"/>
            <a:ext cx="5328976" cy="745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Идём от записи по родителям до корня — корень и есть номер человека. По дороге подтягиваем записи ближе к корню, чтобы следующий поиск был короче.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12720" y="4044392"/>
            <a:ext cx="5328976" cy="269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45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r>
              <a:rPr lang="en-US" sz="1600" b="1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union(a, b) — слить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720" y="4338848"/>
            <a:ext cx="5328976" cy="505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Если у двух записей общий паспорт, билет или карта, корень одной группы подвешиваем к корню другой.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91264" y="1899785"/>
            <a:ext cx="5087989" cy="3213019"/>
          </a:xfrm>
          <a:prstGeom prst="roundRect">
            <a:avLst>
              <a:gd name="adj" fmla="val 2372"/>
            </a:avLst>
          </a:prstGeom>
          <a:solidFill>
            <a:srgbClr val="12161C"/>
          </a:solidFill>
          <a:ln/>
        </p:spPr>
        <p:txBody>
          <a:bodyPr wrap="square" lIns="193519" tIns="155482" rIns="53830" bIns="130075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E8E6E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parent = list(range(n))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E883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</a:t>
            </a:r>
            <a:r>
              <a:rPr lang="en-US" sz="1250" dirty="0">
                <a:solidFill>
                  <a:srgbClr val="E8E6E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find(x):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E8E6E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50" dirty="0">
                <a:solidFill>
                  <a:srgbClr val="E883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</a:t>
            </a:r>
            <a:r>
              <a:rPr lang="en-US" sz="1250" dirty="0">
                <a:solidFill>
                  <a:srgbClr val="E8E6E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parent[x] != x: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E8E6E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parent[x] = parent[parent[x]]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E8E6E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x = parent[x]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E8E6E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50" dirty="0">
                <a:solidFill>
                  <a:srgbClr val="E883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return</a:t>
            </a:r>
            <a:r>
              <a:rPr lang="en-US" sz="1250" dirty="0">
                <a:solidFill>
                  <a:srgbClr val="E8E6E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x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E883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</a:t>
            </a:r>
            <a:r>
              <a:rPr lang="en-US" sz="1250" dirty="0">
                <a:solidFill>
                  <a:srgbClr val="E8E6E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union(x, y):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E8E6E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rx, ry = find(x), find(y)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E8E6E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50" dirty="0">
                <a:solidFill>
                  <a:srgbClr val="E883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250" dirty="0">
                <a:solidFill>
                  <a:srgbClr val="E8E6E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rx != ry: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E8E6E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parent[ry] = rx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2720" y="5315961"/>
            <a:ext cx="10464746" cy="292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3"/>
              </a:lnSpc>
              <a:buNone/>
            </a:pPr>
            <a:r>
              <a:rPr lang="en-US" sz="145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Сравнить все записи попарно — это 7 триллионов пар. Union-Find обходится одним проходом по ключам.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12720" y="6238273"/>
            <a:ext cx="233759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ru-RU" sz="1200" dirty="0">
                <a:solidFill>
                  <a:srgbClr val="6A717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812719"/>
            <a:ext cx="10883529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C245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 · СКЛЕЙКА ЗАПИСЕЙ В ЛЮДЕЙ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20" y="1203908"/>
            <a:ext cx="10883529" cy="492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Пример: четыре записи — один человек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895" y="1852240"/>
            <a:ext cx="2540045" cy="786715"/>
          </a:xfrm>
          <a:prstGeom prst="roundRect">
            <a:avLst>
              <a:gd name="adj" fmla="val 7668"/>
            </a:avLst>
          </a:prstGeom>
          <a:solidFill>
            <a:srgbClr val="FDFCF9"/>
          </a:solidFill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983542" y="1994526"/>
            <a:ext cx="2270893" cy="253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· Boarding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3542" y="2273771"/>
            <a:ext cx="2270893" cy="248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паспорт 4510 · билет 7230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89274" y="1852240"/>
            <a:ext cx="2540045" cy="786715"/>
          </a:xfrm>
          <a:prstGeom prst="roundRect">
            <a:avLst>
              <a:gd name="adj" fmla="val 7668"/>
            </a:avLst>
          </a:prstGeom>
          <a:solidFill>
            <a:srgbClr val="FDFCF9"/>
          </a:solidFill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3656921" y="1994526"/>
            <a:ext cx="2270893" cy="253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 · Sirena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6921" y="2273771"/>
            <a:ext cx="2369223" cy="248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паспорт 4510 · карта FB 123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2654" y="1852240"/>
            <a:ext cx="2540045" cy="786715"/>
          </a:xfrm>
          <a:prstGeom prst="roundRect">
            <a:avLst>
              <a:gd name="adj" fmla="val 7668"/>
            </a:avLst>
          </a:prstGeom>
          <a:solidFill>
            <a:srgbClr val="FDFCF9"/>
          </a:solidFill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6330301" y="1994526"/>
            <a:ext cx="2270893" cy="253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 · SkyTeam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30301" y="2273771"/>
            <a:ext cx="2270893" cy="248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карта FB 123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768841" y="1852240"/>
            <a:ext cx="2540045" cy="786715"/>
          </a:xfrm>
          <a:prstGeom prst="roundRect">
            <a:avLst>
              <a:gd name="adj" fmla="val 7668"/>
            </a:avLst>
          </a:prstGeom>
          <a:solidFill>
            <a:srgbClr val="FDFCF9"/>
          </a:solidFill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9003681" y="1994526"/>
            <a:ext cx="2270893" cy="253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 · Pointz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003681" y="2273771"/>
            <a:ext cx="2270893" cy="248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карта FB 123 · uid 77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1376078" y="2819927"/>
            <a:ext cx="0" cy="1935021"/>
          </a:xfrm>
          <a:prstGeom prst="line">
            <a:avLst/>
          </a:prstGeom>
          <a:noFill/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812720" y="4751773"/>
            <a:ext cx="10566533" cy="0"/>
          </a:xfrm>
          <a:prstGeom prst="line">
            <a:avLst/>
          </a:prstGeom>
          <a:noFill/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812720" y="2825724"/>
            <a:ext cx="10566533" cy="0"/>
          </a:xfrm>
          <a:prstGeom prst="line">
            <a:avLst/>
          </a:prstGeom>
          <a:noFill/>
          <a:ln w="11593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818516" y="2819927"/>
            <a:ext cx="0" cy="1935021"/>
          </a:xfrm>
          <a:prstGeom prst="line">
            <a:avLst/>
          </a:prstGeom>
          <a:noFill/>
          <a:ln w="11593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8613" y="2895021"/>
          <a:ext cx="10320542" cy="1790645"/>
        </p:xfrm>
        <a:graphic>
          <a:graphicData uri="http://schemas.openxmlformats.org/drawingml/2006/table">
            <a:tbl>
              <a:tblPr/>
              <a:tblGrid>
                <a:gridCol w="825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8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9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129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Шаг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Что нашли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Операция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Родители A B C 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129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старт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B C 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29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общий паспорт у A и B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union(A, B)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A C 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129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общая карта у B и C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union(B, C)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A A 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129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общая карта у C и 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union(C, D)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A A 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812720" y="4932747"/>
            <a:ext cx="10464746" cy="292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3"/>
              </a:lnSpc>
              <a:buNone/>
            </a:pPr>
            <a:r>
              <a:rPr lang="en-US" sz="145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find(D) = A: все четыре записи — один человек, хотя у D и A нет ни одного общего ключа. Номера условные.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12720" y="6238280"/>
            <a:ext cx="233759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ru-RU" sz="1200" dirty="0">
                <a:solidFill>
                  <a:srgbClr val="6A717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812719"/>
            <a:ext cx="10883529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C245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 · РЕЗУЛЬТАТ СКЛЕЙКИ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20" y="1229265"/>
            <a:ext cx="10883529" cy="492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158 075 человек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720" y="1899785"/>
            <a:ext cx="3420614" cy="1031909"/>
          </a:xfrm>
          <a:prstGeom prst="roundRect">
            <a:avLst>
              <a:gd name="adj" fmla="val 7384"/>
            </a:avLst>
          </a:prstGeom>
          <a:solidFill>
            <a:srgbClr val="12161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1015877" y="2077585"/>
            <a:ext cx="3104729" cy="416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F7F6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158 075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15877" y="2519400"/>
            <a:ext cx="3104729" cy="248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A8AEB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человек из 3,7 млн записей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8854" y="1902960"/>
            <a:ext cx="3414264" cy="1025559"/>
          </a:xfrm>
          <a:prstGeom prst="roundRect">
            <a:avLst>
              <a:gd name="adj" fmla="val 7121"/>
            </a:avLst>
          </a:prstGeom>
          <a:solidFill>
            <a:srgbClr val="FDFCF9"/>
          </a:solidFill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4594633" y="2083377"/>
            <a:ext cx="3092787" cy="416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2161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94633" y="2525198"/>
            <a:ext cx="3092787" cy="248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записей у самого крупного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61814" y="1902960"/>
            <a:ext cx="3414264" cy="1025559"/>
          </a:xfrm>
          <a:prstGeom prst="roundRect">
            <a:avLst>
              <a:gd name="adj" fmla="val 7121"/>
            </a:avLst>
          </a:prstGeom>
          <a:solidFill>
            <a:srgbClr val="FDFCF9"/>
          </a:solidFill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8167593" y="2083377"/>
            <a:ext cx="3092787" cy="416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2161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57 151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167593" y="2525198"/>
            <a:ext cx="3092787" cy="248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из 66 592 профилей форума связаны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720" y="3134854"/>
            <a:ext cx="10464746" cy="30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 каждого человека не больше одного паспорта каждого типа и одной карты на программу.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2720" y="6238273"/>
            <a:ext cx="233759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ru-RU" sz="1200" dirty="0">
                <a:solidFill>
                  <a:srgbClr val="6A717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6238280"/>
            <a:ext cx="233759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ru-RU" sz="1200" dirty="0">
                <a:solidFill>
                  <a:srgbClr val="6A717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20" y="812719"/>
            <a:ext cx="10889873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C245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06 · ПРОВЕРКА НАШИХ ГИПОТЕЗ</a:t>
            </a:r>
            <a:endParaRPr lang="en-US" sz="1200" dirty="0"/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812720" y="1206444"/>
            <a:ext cx="10889873" cy="492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Десять гипотез — и что из них вышло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09640" y="1863742"/>
            <a:ext cx="10572693" cy="0"/>
          </a:xfrm>
          <a:prstGeom prst="line">
            <a:avLst/>
          </a:prstGeom>
          <a:noFill/>
          <a:ln w="11593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 flipH="1">
            <a:off x="812720" y="1857947"/>
            <a:ext cx="2717" cy="3632170"/>
          </a:xfrm>
          <a:prstGeom prst="line">
            <a:avLst/>
          </a:prstGeom>
          <a:noFill/>
          <a:ln w="11593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35862"/>
              </p:ext>
            </p:extLst>
          </p:nvPr>
        </p:nvGraphicFramePr>
        <p:xfrm>
          <a:off x="821235" y="1766190"/>
          <a:ext cx="10352103" cy="3723927"/>
        </p:xfrm>
        <a:graphic>
          <a:graphicData uri="http://schemas.openxmlformats.org/drawingml/2006/table">
            <a:tbl>
              <a:tblPr/>
              <a:tblGrid>
                <a:gridCol w="517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8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35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490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№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Гипотеза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Итог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90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Частые перелёты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ru-RU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charset="0"/>
                          <a:cs typeface="IBM Plex Sans" charset="0"/>
                        </a:rPr>
                        <a:t>Частые перелеты сами по себе не означают, что человек – шпион. Гипотеза используется в составе составной гипотезы по выявлению наиболее подозрительных личностей.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90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Странные маршруты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ru-RU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Н</a:t>
                      </a:r>
                      <a:r>
                        <a:rPr lang="en-US" sz="1250" dirty="0" err="1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ет</a:t>
                      </a: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списка стран «повышенного </a:t>
                      </a:r>
                      <a:r>
                        <a:rPr lang="en-US" sz="1250" dirty="0" err="1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внимания</a:t>
                      </a: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»</a:t>
                      </a:r>
                      <a:r>
                        <a:rPr lang="ru-RU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, так что сами пункты назначения также не могут быть сигналом шпиона.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90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Невозможные перемещения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ru-RU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В</a:t>
                      </a:r>
                      <a:r>
                        <a:rPr lang="en-US" sz="1250" dirty="0" err="1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ремя</a:t>
                      </a: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</a:t>
                      </a:r>
                      <a:r>
                        <a:rPr lang="en-US" sz="1250" dirty="0" err="1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есть</a:t>
                      </a:r>
                      <a:r>
                        <a:rPr lang="ru-RU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только</a:t>
                      </a: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у 8,3% записей; двух рейсов в один </a:t>
                      </a:r>
                      <a:r>
                        <a:rPr lang="en-US" sz="1250" dirty="0" err="1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день</a:t>
                      </a: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</a:t>
                      </a:r>
                      <a:r>
                        <a:rPr lang="ru-RU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у одного пассажира </a:t>
                      </a:r>
                      <a:r>
                        <a:rPr lang="en-US" sz="1250" dirty="0" err="1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нет</a:t>
                      </a:r>
                      <a:r>
                        <a:rPr lang="ru-RU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.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90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8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Много документов и карт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8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ru-RU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</a:t>
                      </a:r>
                      <a:r>
                        <a:rPr lang="en-US" sz="1250" dirty="0" err="1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о</a:t>
                      </a: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</a:t>
                      </a:r>
                      <a:r>
                        <a:rPr lang="en-US" sz="1250" dirty="0" err="1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одному</a:t>
                      </a: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</a:t>
                      </a:r>
                      <a:r>
                        <a:rPr lang="ru-RU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документу </a:t>
                      </a:r>
                      <a:r>
                        <a:rPr lang="en-US" sz="1250" dirty="0" err="1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на</a:t>
                      </a: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человека, </a:t>
                      </a:r>
                      <a:r>
                        <a:rPr lang="ru-RU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в иных случаях – это сигнал.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8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90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Рейсы вне расписания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ru-RU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С</a:t>
                      </a:r>
                      <a:r>
                        <a:rPr lang="en-US" sz="1250" dirty="0" err="1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правочник</a:t>
                      </a: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за сезон 2018/19, а события — за 2017 </a:t>
                      </a:r>
                      <a:r>
                        <a:rPr lang="en-US" sz="1250" dirty="0" err="1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год</a:t>
                      </a:r>
                      <a:r>
                        <a:rPr lang="ru-RU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. Используется только как паттерн.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90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Полёты без багажа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301 </a:t>
                      </a:r>
                      <a:r>
                        <a:rPr lang="en-US" sz="1250" dirty="0" err="1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человек</a:t>
                      </a: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</a:t>
                      </a:r>
                      <a:r>
                        <a:rPr lang="en-US" sz="1250" dirty="0" err="1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всегда</a:t>
                      </a: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</a:t>
                      </a:r>
                      <a:r>
                        <a:rPr lang="ru-RU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летают </a:t>
                      </a:r>
                      <a:r>
                        <a:rPr lang="en-US" sz="1250" dirty="0" err="1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без</a:t>
                      </a: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</a:t>
                      </a:r>
                      <a:r>
                        <a:rPr lang="en-US" sz="1250" dirty="0" err="1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багажа</a:t>
                      </a: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при 295 </a:t>
                      </a:r>
                      <a:r>
                        <a:rPr lang="en-US" sz="1250" dirty="0" err="1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ожидаемых</a:t>
                      </a: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</a:t>
                      </a:r>
                      <a:r>
                        <a:rPr lang="en-US" sz="1250" dirty="0" err="1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случайно</a:t>
                      </a:r>
                      <a:r>
                        <a:rPr lang="ru-RU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– нормальное поведение.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90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Возвраты и отмены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ru-RU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С</a:t>
                      </a:r>
                      <a:r>
                        <a:rPr lang="en-US" sz="1250" dirty="0" err="1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татус</a:t>
                      </a: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рейса в SkyTeam </a:t>
                      </a:r>
                      <a:r>
                        <a:rPr lang="en-US" sz="1250" dirty="0" err="1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везде</a:t>
                      </a: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</a:t>
                      </a:r>
                      <a:r>
                        <a:rPr lang="ru-RU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«</a:t>
                      </a: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LANDED</a:t>
                      </a:r>
                      <a:r>
                        <a:rPr lang="ru-RU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»</a:t>
                      </a: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— </a:t>
                      </a:r>
                      <a:r>
                        <a:rPr lang="ru-RU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проверка невозможна.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490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Нетипичный класс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ru-RU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Э</a:t>
                      </a:r>
                      <a:r>
                        <a:rPr lang="en-US" sz="1250" dirty="0" err="1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коном</a:t>
                      </a:r>
                      <a:r>
                        <a:rPr lang="en-US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84%, премиум 16% — </a:t>
                      </a:r>
                      <a:r>
                        <a:rPr lang="ru-RU" sz="12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нормальное поведение.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6238273"/>
            <a:ext cx="233759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ru-RU" sz="1200" dirty="0">
                <a:solidFill>
                  <a:srgbClr val="8A909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20" y="812719"/>
            <a:ext cx="10889873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883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06 · КРИТЕРИЙ:</a:t>
            </a:r>
            <a:endParaRPr lang="en-US" sz="1200" dirty="0"/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812720" y="1394023"/>
            <a:ext cx="10464746" cy="1076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ru-RU" sz="3600" b="1" i="0" dirty="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Основной критерий: один идентификатор на два человека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806561" y="2962281"/>
            <a:ext cx="5197403" cy="1365221"/>
          </a:xfrm>
          <a:prstGeom prst="roundRect">
            <a:avLst>
              <a:gd name="adj" fmla="val 5582"/>
            </a:avLst>
          </a:prstGeom>
          <a:solidFill>
            <a:srgbClr val="1E25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1035079" y="3165438"/>
            <a:ext cx="4882577" cy="416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F7F6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101 662 → </a:t>
            </a:r>
            <a:r>
              <a:rPr lang="en-US" sz="2800" b="1" dirty="0">
                <a:solidFill>
                  <a:srgbClr val="E883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35079" y="3607259"/>
            <a:ext cx="4882577" cy="523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 err="1">
                <a:solidFill>
                  <a:srgbClr val="A8AEB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номеров</a:t>
            </a:r>
            <a:r>
              <a:rPr lang="en-US" sz="1400" dirty="0">
                <a:solidFill>
                  <a:srgbClr val="A8AEB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документов проверили — у одного два владельца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81760" y="2962281"/>
            <a:ext cx="5197493" cy="1365221"/>
          </a:xfrm>
          <a:prstGeom prst="roundRect">
            <a:avLst>
              <a:gd name="adj" fmla="val 5582"/>
            </a:avLst>
          </a:prstGeom>
          <a:solidFill>
            <a:srgbClr val="1E25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6410278" y="3165438"/>
            <a:ext cx="4882671" cy="416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F7F6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101 703 → </a:t>
            </a:r>
            <a:r>
              <a:rPr lang="en-US" sz="2800" b="1" dirty="0">
                <a:solidFill>
                  <a:srgbClr val="E883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10278" y="3607259"/>
            <a:ext cx="4882671" cy="523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 err="1">
                <a:solidFill>
                  <a:srgbClr val="A8AEB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карт</a:t>
            </a:r>
            <a:r>
              <a:rPr lang="en-US" sz="1400" dirty="0">
                <a:solidFill>
                  <a:srgbClr val="A8AEB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лояльности проверили — у одной два владельца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812719"/>
            <a:ext cx="10883529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C245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06 · НАХОДКА 1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20" y="1216589"/>
            <a:ext cx="1805319" cy="492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Паспорт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618039" y="1251372"/>
            <a:ext cx="2377348" cy="48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C245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8248013778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15895" y="1907313"/>
            <a:ext cx="5187973" cy="947484"/>
          </a:xfrm>
          <a:prstGeom prst="roundRect">
            <a:avLst>
              <a:gd name="adj" fmla="val 5026"/>
            </a:avLst>
          </a:prstGeom>
          <a:solidFill>
            <a:srgbClr val="FDFCF9"/>
          </a:solidFill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1047034" y="2087730"/>
            <a:ext cx="4867465" cy="29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BUROV RAMIL ALBERTOVICH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034" y="2425483"/>
            <a:ext cx="4867465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24.08.1995 · 2 записи · Boarding, Sirena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88014" y="1907313"/>
            <a:ext cx="5188064" cy="947484"/>
          </a:xfrm>
          <a:prstGeom prst="roundRect">
            <a:avLst>
              <a:gd name="adj" fmla="val 5026"/>
            </a:avLst>
          </a:prstGeom>
          <a:solidFill>
            <a:srgbClr val="FDFCF9"/>
          </a:solidFill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6419154" y="2087730"/>
            <a:ext cx="4867558" cy="29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GLEBOV GORDEI MAKAREVICH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19154" y="2425483"/>
            <a:ext cx="4867558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31.12.1982 · 4 записи · Boarding, Sirena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720" y="3048446"/>
            <a:ext cx="10464746" cy="57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Расходится всё: фамилия, имя, отчество и </a:t>
            </a:r>
            <a:r>
              <a:rPr lang="en-US" sz="1500" dirty="0" err="1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дата</a:t>
            </a:r>
            <a:r>
              <a:rPr lang="en-US" sz="150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500" dirty="0" err="1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рождения</a:t>
            </a:r>
            <a:r>
              <a:rPr lang="en-US" sz="150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Оба источника фиксируют это независимо друг от друга.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1376078" y="3791241"/>
            <a:ext cx="0" cy="2014726"/>
          </a:xfrm>
          <a:prstGeom prst="line">
            <a:avLst/>
          </a:prstGeom>
          <a:noFill/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812720" y="5802793"/>
            <a:ext cx="10566533" cy="0"/>
          </a:xfrm>
          <a:prstGeom prst="line">
            <a:avLst/>
          </a:prstGeom>
          <a:noFill/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812720" y="3797038"/>
            <a:ext cx="10566533" cy="0"/>
          </a:xfrm>
          <a:prstGeom prst="line">
            <a:avLst/>
          </a:prstGeom>
          <a:noFill/>
          <a:ln w="11593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818516" y="3791241"/>
            <a:ext cx="0" cy="2014726"/>
          </a:xfrm>
          <a:prstGeom prst="line">
            <a:avLst/>
          </a:prstGeom>
          <a:noFill/>
          <a:ln w="11593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8613" y="3872685"/>
          <a:ext cx="10320543" cy="1857670"/>
        </p:xfrm>
        <a:graphic>
          <a:graphicData uri="http://schemas.openxmlformats.org/drawingml/2006/table">
            <a:tbl>
              <a:tblPr/>
              <a:tblGrid>
                <a:gridCol w="2270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76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25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9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534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Дата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Рейс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Маршрут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Кто летит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534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 января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SU1273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KRR → SVO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BUROV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534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16 января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8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SU1057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8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A33A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MCX → SVO, разрыв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8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GLEBOV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8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534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 марта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SU1276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6A717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в талоне не указан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GLEBOV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A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534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 марта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SU1281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6A717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в талоне не указан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GLEBOV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812720" y="6238280"/>
            <a:ext cx="233759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ru-RU" sz="1200" dirty="0">
                <a:solidFill>
                  <a:srgbClr val="6A717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812719"/>
            <a:ext cx="10883529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C245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06 · НАХОДКА 2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20" y="1216589"/>
            <a:ext cx="3733638" cy="492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Карта лояльности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46357" y="1251365"/>
            <a:ext cx="2852861" cy="48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C245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FB 139888197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15895" y="1907313"/>
            <a:ext cx="5187973" cy="947484"/>
          </a:xfrm>
          <a:prstGeom prst="roundRect">
            <a:avLst>
              <a:gd name="adj" fmla="val 5026"/>
            </a:avLst>
          </a:prstGeom>
          <a:solidFill>
            <a:srgbClr val="FDFCF9"/>
          </a:solidFill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1047034" y="2087730"/>
            <a:ext cx="4867465" cy="29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GOLOVINA OLESYA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034" y="2425483"/>
            <a:ext cx="4867465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записей · </a:t>
            </a:r>
            <a:r>
              <a:rPr lang="en-US" sz="1400" dirty="0" err="1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Россия</a:t>
            </a:r>
            <a:r>
              <a:rPr lang="en-US" sz="140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Европа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88014" y="1907313"/>
            <a:ext cx="5188064" cy="947484"/>
          </a:xfrm>
          <a:prstGeom prst="roundRect">
            <a:avLst>
              <a:gd name="adj" fmla="val 5026"/>
            </a:avLst>
          </a:prstGeom>
          <a:solidFill>
            <a:srgbClr val="FDFCF9"/>
          </a:solidFill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6419154" y="2087730"/>
            <a:ext cx="4867558" cy="29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MASLENNIKOV ROMAN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19154" y="2425483"/>
            <a:ext cx="4867558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 записей · внутренний Китай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720" y="3048440"/>
            <a:ext cx="10464746" cy="57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Ещё 10 перелётов по карте пришли из SkyTeam без имени. Траектория карты рвётся 8 раз из 20: вылет не из того города, куда она прилетела.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1376078" y="3791241"/>
            <a:ext cx="0" cy="2014726"/>
          </a:xfrm>
          <a:prstGeom prst="line">
            <a:avLst/>
          </a:prstGeom>
          <a:noFill/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812720" y="5802793"/>
            <a:ext cx="10566533" cy="0"/>
          </a:xfrm>
          <a:prstGeom prst="line">
            <a:avLst/>
          </a:prstGeom>
          <a:noFill/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812720" y="3797038"/>
            <a:ext cx="10566533" cy="0"/>
          </a:xfrm>
          <a:prstGeom prst="line">
            <a:avLst/>
          </a:prstGeom>
          <a:noFill/>
          <a:ln w="11593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818516" y="3791241"/>
            <a:ext cx="0" cy="2014726"/>
          </a:xfrm>
          <a:prstGeom prst="line">
            <a:avLst/>
          </a:prstGeom>
          <a:noFill/>
          <a:ln w="11593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8613" y="3872685"/>
          <a:ext cx="10320542" cy="1857670"/>
        </p:xfrm>
        <a:graphic>
          <a:graphicData uri="http://schemas.openxmlformats.org/drawingml/2006/table">
            <a:tbl>
              <a:tblPr/>
              <a:tblGrid>
                <a:gridCol w="1857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0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05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705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1534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Дата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Рейс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Вылет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Карта была в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7F6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Кто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534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18 января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SU1120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SVO → AER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A33A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IKA, Тегеран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GOLOVINA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6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534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 февраля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CZ6026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IKA → PEK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A33A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AER, Сочи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6A7179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без имени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534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29 июля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ME2231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BEY → FCO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A33A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RUH, Эр-Рияд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GOLOVINA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534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17 августа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MU5529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SHA → DQA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A33A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FCO, Рим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2161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MASLENNIKOV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812720" y="6238273"/>
            <a:ext cx="233759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ru-RU" sz="1200" dirty="0">
                <a:solidFill>
                  <a:srgbClr val="6A717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812726"/>
            <a:ext cx="10883529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D6A8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07 · ГИПОТЕЗЫ КОЛЛЕГИ · ТРИ СИГНАЛА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20" y="1165783"/>
            <a:ext cx="10883529" cy="492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Три </a:t>
            </a:r>
            <a:r>
              <a:rPr lang="en-US" sz="3200" b="1" i="0" dirty="0" err="1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сигнала</a:t>
            </a:r>
            <a:r>
              <a:rPr lang="en-US" sz="3200" b="1" i="0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3200" b="1" i="0" dirty="0" err="1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риска</a:t>
            </a:r>
            <a:endParaRPr lang="en-US" sz="3200" dirty="0"/>
          </a:p>
        </p:txBody>
      </p:sp>
      <p:sp>
        <p:nvSpPr>
          <p:cNvPr id="27" name="Text 22"/>
          <p:cNvSpPr/>
          <p:nvPr/>
        </p:nvSpPr>
        <p:spPr>
          <a:xfrm>
            <a:off x="812720" y="6238280"/>
            <a:ext cx="233759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ru-RU" sz="1200" dirty="0">
                <a:solidFill>
                  <a:srgbClr val="5A687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16</a:t>
            </a:r>
            <a:endParaRPr lang="en-US" sz="1200" dirty="0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674FAC6E-81C1-5842-A445-EB62CBD1F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20" y="2347767"/>
            <a:ext cx="10715578" cy="268373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20" y="812713"/>
            <a:ext cx="10883529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C245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08 · ИТОГ ПРОЕКТА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20" y="1216583"/>
            <a:ext cx="10883529" cy="492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ru-RU" sz="3200" b="1" i="0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Итоговые показатели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720" y="1874428"/>
            <a:ext cx="10883529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6A717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РЕЗУЛЬТАТ</a:t>
            </a:r>
            <a:endParaRPr lang="en-US" sz="1200" dirty="0"/>
          </a:p>
        </p:txBody>
      </p:sp>
      <p:sp>
        <p:nvSpPr>
          <p:cNvPr id="5" name="Result card"/>
          <p:cNvSpPr/>
          <p:nvPr/>
        </p:nvSpPr>
        <p:spPr>
          <a:xfrm>
            <a:off x="812719" y="2281473"/>
            <a:ext cx="10883529" cy="1004455"/>
          </a:xfrm>
          <a:prstGeom prst="roundRect">
            <a:avLst>
              <a:gd name="adj" fmla="val 7270"/>
            </a:avLst>
          </a:prstGeom>
          <a:solidFill>
            <a:srgbClr val="FDFCF9"/>
          </a:solidFill>
          <a:ln w="635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Result headline"/>
          <p:cNvSpPr txBox="1"/>
          <p:nvPr/>
        </p:nvSpPr>
        <p:spPr>
          <a:xfrm>
            <a:off x="1021674" y="2449116"/>
            <a:ext cx="10475000" cy="416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ru-RU" sz="2800" b="1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Обнаружено </a:t>
            </a:r>
            <a:r>
              <a:rPr lang="ru-RU" sz="2800" b="1" dirty="0">
                <a:solidFill>
                  <a:srgbClr val="C245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пары</a:t>
            </a:r>
            <a:r>
              <a:rPr lang="ru-RU" sz="2800" b="1" dirty="0">
                <a:solidFill>
                  <a:srgbClr val="1216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подозреваемых людей</a:t>
            </a:r>
            <a:endParaRPr lang="ru-RU" sz="2800" dirty="0"/>
          </a:p>
        </p:txBody>
      </p:sp>
      <p:sp>
        <p:nvSpPr>
          <p:cNvPr id="7" name="Result details"/>
          <p:cNvSpPr txBox="1"/>
          <p:nvPr/>
        </p:nvSpPr>
        <p:spPr>
          <a:xfrm>
            <a:off x="1021674" y="2878262"/>
            <a:ext cx="10475000" cy="265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ru-RU" sz="1350" dirty="0">
                <a:solidFill>
                  <a:srgbClr val="4A55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паспорт 8248013778 и карта лояльности FB 139888197 — у каждого по два владельца</a:t>
            </a:r>
            <a:endParaRPr lang="ru-RU" sz="1350" dirty="0"/>
          </a:p>
        </p:txBody>
      </p:sp>
      <p:sp>
        <p:nvSpPr>
          <p:cNvPr id="14" name="Text 12"/>
          <p:cNvSpPr/>
          <p:nvPr/>
        </p:nvSpPr>
        <p:spPr>
          <a:xfrm>
            <a:off x="812720" y="3479577"/>
            <a:ext cx="10883529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6A717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РАСПРЕДЕЛЕНИЕ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719" y="3886530"/>
            <a:ext cx="10883529" cy="2020000"/>
          </a:xfrm>
          <a:prstGeom prst="roundRect">
            <a:avLst>
              <a:gd name="adj" fmla="val 7539"/>
            </a:avLst>
          </a:prstGeom>
          <a:solidFill>
            <a:srgbClr val="12161C"/>
          </a:solidFill>
          <a:ln/>
        </p:spPr>
        <p:txBody>
          <a:bodyPr/>
          <a:lstStyle/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15877" y="4048472"/>
            <a:ext cx="2500000" cy="416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883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1 850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015877" y="4477606"/>
            <a:ext cx="3500000" cy="265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D9DC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кейсов в очереди на ручную проверку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12720" y="6238280"/>
            <a:ext cx="233759" cy="238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ru-RU" sz="1200" dirty="0">
                <a:solidFill>
                  <a:srgbClr val="6A717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17</a:t>
            </a:r>
            <a:endParaRPr lang="en-US" sz="1200" dirty="0"/>
          </a:p>
        </p:txBody>
      </p:sp>
      <p:sp>
        <p:nvSpPr>
          <p:cNvPr id="23" name="Chart title"/>
          <p:cNvSpPr/>
          <p:nvPr/>
        </p:nvSpPr>
        <p:spPr>
          <a:xfrm>
            <a:off x="4350000" y="4048472"/>
            <a:ext cx="5500000" cy="300000"/>
          </a:xfrm>
          <a:prstGeom prst="rect">
            <a:avLst/>
          </a:prstGeom>
          <a:noFill/>
          <a:ln/>
        </p:spPr>
        <p:txBody>
          <a:bodyPr/>
          <a:lstStyle/>
          <a:p>
            <a:pPr algn="ctr"/>
            <a:r>
              <a:rPr lang="ru-RU" sz="1200" b="1" dirty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Кейсы по числу сработавших сигналов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24" name="Chart baseline"/>
          <p:cNvSpPr/>
          <p:nvPr/>
        </p:nvSpPr>
        <p:spPr>
          <a:xfrm>
            <a:off x="4450000" y="5550000"/>
            <a:ext cx="5500000" cy="18000"/>
          </a:xfrm>
          <a:prstGeom prst="rect">
            <a:avLst/>
          </a:prstGeom>
          <a:solidFill>
            <a:srgbClr val="D9DCE0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5" name="Bar 1 signal"/>
          <p:cNvSpPr/>
          <p:nvPr/>
        </p:nvSpPr>
        <p:spPr>
          <a:xfrm>
            <a:off x="4900000" y="4590000"/>
            <a:ext cx="850000" cy="960000"/>
          </a:xfrm>
          <a:prstGeom prst="rect">
            <a:avLst/>
          </a:prstGeom>
          <a:solidFill>
            <a:srgbClr val="E8833F"/>
          </a:solidFill>
          <a:ln>
            <a:noFill/>
          </a:ln>
        </p:spPr>
        <p:txBody>
          <a:bodyPr/>
          <a:lstStyle/>
          <a:p>
            <a:r>
              <a:rPr lang="en-US" dirty="0">
                <a:solidFill>
                  <a:srgbClr val="F7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1 392</a:t>
            </a:r>
            <a:endParaRPr lang="ru-RU" dirty="0"/>
          </a:p>
        </p:txBody>
      </p:sp>
      <p:sp>
        <p:nvSpPr>
          <p:cNvPr id="26" name="Bar 2 signals"/>
          <p:cNvSpPr/>
          <p:nvPr/>
        </p:nvSpPr>
        <p:spPr>
          <a:xfrm>
            <a:off x="6003751" y="5275167"/>
            <a:ext cx="850000" cy="280000"/>
          </a:xfrm>
          <a:prstGeom prst="rect">
            <a:avLst/>
          </a:prstGeom>
          <a:solidFill>
            <a:srgbClr val="C2451E"/>
          </a:solidFill>
          <a:ln>
            <a:noFill/>
          </a:ln>
        </p:spPr>
        <p:txBody>
          <a:bodyPr/>
          <a:lstStyle/>
          <a:p>
            <a:pPr algn="ctr"/>
            <a:r>
              <a:rPr lang="en-US" dirty="0">
                <a:solidFill>
                  <a:srgbClr val="F7F6F2"/>
                </a:solidFill>
                <a:latin typeface="IBM Plex Sans" pitchFamily="34" charset="0"/>
              </a:rPr>
              <a:t>407</a:t>
            </a:r>
            <a:endParaRPr lang="ru-RU" dirty="0">
              <a:solidFill>
                <a:srgbClr val="F7F6F2"/>
              </a:solidFill>
              <a:latin typeface="IBM Plex Sans" pitchFamily="34" charset="0"/>
            </a:endParaRPr>
          </a:p>
        </p:txBody>
      </p:sp>
      <p:sp>
        <p:nvSpPr>
          <p:cNvPr id="27" name="Bar 3 signals"/>
          <p:cNvSpPr/>
          <p:nvPr/>
        </p:nvSpPr>
        <p:spPr>
          <a:xfrm>
            <a:off x="7066240" y="5513083"/>
            <a:ext cx="850000" cy="40000"/>
          </a:xfrm>
          <a:prstGeom prst="rect">
            <a:avLst/>
          </a:prstGeom>
          <a:solidFill>
            <a:srgbClr val="8B2E16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8" name="Value 1 signal"/>
          <p:cNvSpPr/>
          <p:nvPr/>
        </p:nvSpPr>
        <p:spPr>
          <a:xfrm>
            <a:off x="4800000" y="4320000"/>
            <a:ext cx="1050000" cy="250000"/>
          </a:xfrm>
          <a:prstGeom prst="rect">
            <a:avLst/>
          </a:prstGeom>
          <a:noFill/>
          <a:ln/>
        </p:spPr>
        <p:txBody>
          <a:bodyPr/>
          <a:lstStyle/>
          <a:p>
            <a:pPr algn="ctr"/>
            <a:r>
              <a:rPr lang="ru-RU" sz="1300" b="1">
                <a:solidFill>
                  <a:srgbClr val="12161C"/>
                </a:solidFill>
                <a:latin typeface="JetBrains Mono"/>
                <a:ea typeface="JetBrains Mono"/>
                <a:cs typeface="JetBrains Mono"/>
              </a:rPr>
              <a:t>1 392</a:t>
            </a:r>
            <a:endParaRPr lang="ru-RU" sz="1300"/>
          </a:p>
        </p:txBody>
      </p:sp>
      <p:sp>
        <p:nvSpPr>
          <p:cNvPr id="29" name="Value 2 signals"/>
          <p:cNvSpPr/>
          <p:nvPr/>
        </p:nvSpPr>
        <p:spPr>
          <a:xfrm>
            <a:off x="6700000" y="5000000"/>
            <a:ext cx="1050000" cy="250000"/>
          </a:xfrm>
          <a:prstGeom prst="rect">
            <a:avLst/>
          </a:prstGeom>
          <a:noFill/>
          <a:ln/>
        </p:spPr>
        <p:txBody>
          <a:bodyPr/>
          <a:lstStyle/>
          <a:p>
            <a:pPr algn="ctr"/>
            <a:r>
              <a:rPr lang="ru-RU" sz="1300" b="1">
                <a:solidFill>
                  <a:srgbClr val="12161C"/>
                </a:solidFill>
                <a:latin typeface="JetBrains Mono"/>
                <a:ea typeface="JetBrains Mono"/>
                <a:cs typeface="JetBrains Mono"/>
              </a:rPr>
              <a:t>407</a:t>
            </a:r>
            <a:endParaRPr lang="ru-RU" sz="1300"/>
          </a:p>
        </p:txBody>
      </p:sp>
      <p:sp>
        <p:nvSpPr>
          <p:cNvPr id="30" name="Value 3 signals"/>
          <p:cNvSpPr/>
          <p:nvPr/>
        </p:nvSpPr>
        <p:spPr>
          <a:xfrm>
            <a:off x="6966240" y="5141341"/>
            <a:ext cx="1050000" cy="250000"/>
          </a:xfrm>
          <a:prstGeom prst="rect">
            <a:avLst/>
          </a:prstGeom>
          <a:noFill/>
          <a:ln/>
        </p:spPr>
        <p:txBody>
          <a:bodyPr/>
          <a:lstStyle/>
          <a:p>
            <a:pPr algn="ctr"/>
            <a:r>
              <a:rPr lang="en-US" dirty="0">
                <a:solidFill>
                  <a:srgbClr val="F7F6F2"/>
                </a:solidFill>
                <a:latin typeface="IBM Plex Sans" pitchFamily="34" charset="0"/>
              </a:rPr>
              <a:t>51</a:t>
            </a:r>
            <a:endParaRPr lang="ru-RU" dirty="0">
              <a:solidFill>
                <a:srgbClr val="F7F6F2"/>
              </a:solidFill>
              <a:latin typeface="IBM Plex Sans" pitchFamily="34" charset="0"/>
            </a:endParaRPr>
          </a:p>
        </p:txBody>
      </p:sp>
      <p:sp>
        <p:nvSpPr>
          <p:cNvPr id="31" name="Label 1 signal"/>
          <p:cNvSpPr/>
          <p:nvPr/>
        </p:nvSpPr>
        <p:spPr>
          <a:xfrm>
            <a:off x="4750000" y="5610000"/>
            <a:ext cx="1150000" cy="230000"/>
          </a:xfrm>
          <a:prstGeom prst="rect">
            <a:avLst/>
          </a:prstGeom>
          <a:noFill/>
          <a:ln/>
        </p:spPr>
        <p:txBody>
          <a:bodyPr/>
          <a:lstStyle/>
          <a:p>
            <a:pPr algn="ctr"/>
            <a:r>
              <a:rPr lang="ru-RU" sz="1050" dirty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1 сигнал</a:t>
            </a:r>
            <a:endParaRPr lang="ru-RU" sz="1050" dirty="0">
              <a:solidFill>
                <a:schemeClr val="bg1"/>
              </a:solidFill>
            </a:endParaRPr>
          </a:p>
        </p:txBody>
      </p:sp>
      <p:sp>
        <p:nvSpPr>
          <p:cNvPr id="32" name="Label 2 signals"/>
          <p:cNvSpPr/>
          <p:nvPr/>
        </p:nvSpPr>
        <p:spPr>
          <a:xfrm>
            <a:off x="5853751" y="5615167"/>
            <a:ext cx="1150000" cy="230000"/>
          </a:xfrm>
          <a:prstGeom prst="rect">
            <a:avLst/>
          </a:prstGeom>
          <a:noFill/>
          <a:ln/>
        </p:spPr>
        <p:txBody>
          <a:bodyPr/>
          <a:lstStyle/>
          <a:p>
            <a:pPr algn="ctr"/>
            <a:r>
              <a:rPr lang="ru-RU" sz="1050" dirty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2 сигнала</a:t>
            </a:r>
            <a:endParaRPr lang="ru-RU" sz="1050" dirty="0">
              <a:solidFill>
                <a:schemeClr val="bg1"/>
              </a:solidFill>
            </a:endParaRPr>
          </a:p>
        </p:txBody>
      </p:sp>
      <p:sp>
        <p:nvSpPr>
          <p:cNvPr id="33" name="Label 3 signals"/>
          <p:cNvSpPr/>
          <p:nvPr/>
        </p:nvSpPr>
        <p:spPr>
          <a:xfrm>
            <a:off x="6916240" y="5613083"/>
            <a:ext cx="1150000" cy="230000"/>
          </a:xfrm>
          <a:prstGeom prst="rect">
            <a:avLst/>
          </a:prstGeom>
          <a:noFill/>
          <a:ln/>
        </p:spPr>
        <p:txBody>
          <a:bodyPr/>
          <a:lstStyle/>
          <a:p>
            <a:pPr algn="ctr"/>
            <a:r>
              <a:rPr lang="ru-RU" sz="1050" dirty="0">
                <a:solidFill>
                  <a:schemeClr val="bg1"/>
                </a:solidFill>
                <a:latin typeface="IBM Plex Sans"/>
                <a:ea typeface="IBM Plex Sans"/>
                <a:cs typeface="IBM Plex Sans"/>
              </a:rPr>
              <a:t>3 сигнала</a:t>
            </a:r>
            <a:endParaRPr lang="ru-RU" sz="10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Yoyoflot: защита проекта">
  <a:themeElements>
    <a:clrScheme name="Yoyoflot: защита проекта">
      <a:dk1>
        <a:srgbClr val="12161C"/>
      </a:dk1>
      <a:lt1>
        <a:srgbClr val="F7F6F2"/>
      </a:lt1>
      <a:dk2>
        <a:srgbClr val="4B4E52"/>
      </a:dk2>
      <a:lt2>
        <a:srgbClr val="E0E0DD"/>
      </a:lt2>
      <a:accent1>
        <a:srgbClr val="C2451E"/>
      </a:accent1>
      <a:accent2>
        <a:srgbClr val="E8833F"/>
      </a:accent2>
      <a:accent3>
        <a:srgbClr val="1D3B4F"/>
      </a:accent3>
      <a:accent4>
        <a:srgbClr val="2D6A8E"/>
      </a:accent4>
      <a:accent5>
        <a:srgbClr val="4A5560"/>
      </a:accent5>
      <a:accent6>
        <a:srgbClr val="6A7179"/>
      </a:accent6>
      <a:hlink>
        <a:srgbClr val="0563C1"/>
      </a:hlink>
      <a:folHlink>
        <a:srgbClr val="954F72"/>
      </a:folHlink>
    </a:clrScheme>
    <a:fontScheme name="Yoyoflot: защита проекта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JetBrains Mon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2871</Words>
  <Application>Microsoft Office PowerPoint</Application>
  <PresentationFormat>Широкоэкранный</PresentationFormat>
  <Paragraphs>395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IBM Plex Sans</vt:lpstr>
      <vt:lpstr>JetBrains Mono</vt:lpstr>
      <vt:lpstr>Yoyoflot: защита проекта</vt:lpstr>
      <vt:lpstr>Поиск шпионов</vt:lpstr>
      <vt:lpstr>Задача: восстановить историю перелетов пассажиров и найти выбросы</vt:lpstr>
      <vt:lpstr>Библиотеки и зачем каждая</vt:lpstr>
      <vt:lpstr>Шесть источников — шесть форматов</vt:lpstr>
      <vt:lpstr>У каждого источника свои особенности</vt:lpstr>
      <vt:lpstr>Ни одно поле не заполнено везде</vt:lpstr>
      <vt:lpstr>Шесть проблем качества данных</vt:lpstr>
      <vt:lpstr>Запись — вершина, общий ключ — ребро</vt:lpstr>
      <vt:lpstr>Union-Find: как записи находят друг друга</vt:lpstr>
      <vt:lpstr>Пример: четыре записи — один человек</vt:lpstr>
      <vt:lpstr>158 075 человек</vt:lpstr>
      <vt:lpstr>Десять гипотез — и что из них вышло</vt:lpstr>
      <vt:lpstr>Основной критерий: один идентификатор на два человека</vt:lpstr>
      <vt:lpstr>Паспорт</vt:lpstr>
      <vt:lpstr>Карта лояльности</vt:lpstr>
      <vt:lpstr>Три сигнала риска</vt:lpstr>
      <vt:lpstr>Итоговые показатели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Yoyoflot: защита проекта</dc:title>
  <dc:subject/>
  <dc:creator>Jimmies</dc:creator>
  <cp:lastModifiedBy>Джавадов Джамал</cp:lastModifiedBy>
  <cp:revision>19</cp:revision>
  <dcterms:created xsi:type="dcterms:W3CDTF">2026-10-20T15:14:16Z</dcterms:created>
  <dcterms:modified xsi:type="dcterms:W3CDTF">2026-10-21T14:30:03Z</dcterms:modified>
</cp:coreProperties>
</file>